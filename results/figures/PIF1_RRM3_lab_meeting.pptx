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77240" y="777240"/>
            <a:ext cx="502920" cy="502920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When did PIF1 and RRM3 split?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CFE3EC"/>
                </a:solidFill>
                <a:latin typeface="Calibri"/>
              </a:rPr>
              <a:t>Structural phylogenetics places the budding-yeast helicase duplication at the origin of Saccharomycotina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E8A33D"/>
                </a:solidFill>
                <a:latin typeface="Calibri"/>
              </a:rPr>
              <a:t>957 cellular PIF1-family proteins · 728 fungal species · AlphaFold + foldseek 3Di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3EC"/>
                </a:solidFill>
                <a:latin typeface="Calibri"/>
              </a:rPr>
              <a:t>Spencer Gray · 2026-06-18 · github.com/spegray/pif1-foldtree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One ancestral gene → two helicases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2"/>
                </a:solidFill>
                <a:latin typeface="Calibri"/>
              </a:rPr>
              <a:t>Why the deep split is hard to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42A33"/>
                </a:solidFill>
                <a:latin typeface="Calibri"/>
              </a:rPr>
              <a:t>S. cerevisiae has two PIF1-family 5′→3′ DNA helicases: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42A33"/>
                </a:solidFill>
                <a:latin typeface="Calibri"/>
              </a:rPr>
              <a:t>Pif1 — mtDNA maintenance, telomerase inhibition, Okazaki processing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42A33"/>
                </a:solidFill>
                <a:latin typeface="Calibri"/>
              </a:rPr>
              <a:t>Rrm3 — replication through protein–DNA barriers (rDNA, tRNA, telomeres)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42A33"/>
                </a:solidFill>
                <a:latin typeface="Calibri"/>
              </a:rPr>
              <a:t>Question: where/when did one ancestral fungal PIF1 duplicate into the Pif1 + Rrm3 pair?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2"/>
                </a:solidFill>
                <a:latin typeface="Calibri"/>
              </a:rPr>
              <a:t>Why it's hard: the short, fast-evolving helicase core saturates — amino-acid trees lose the deep signal and place the split at “Fungi” (kingdom), unresolved.</a:t>
            </a:r>
          </a:p>
        </p:txBody>
      </p:sp>
      <p:pic>
        <p:nvPicPr>
          <p:cNvPr id="6" name="Picture 5" descr="tre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50008"/>
            <a:ext cx="5577840" cy="33467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A fungi-wide, structure-aware gene tree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A33D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73936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42A33"/>
                </a:solidFill>
                <a:latin typeface="Calibri"/>
              </a:rPr>
              <a:t>957 proteins, 728 species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B72"/>
                </a:solidFill>
                <a:latin typeface="Calibri"/>
              </a:rPr>
              <a:t>Cellular PIF1 via InterPro IPR048293 — not the Helitron-contaminated Pfam PF05970.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99232"/>
            <a:ext cx="566928" cy="566928"/>
          </a:xfrm>
          <a:prstGeom prst="ellipse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A33D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42A33"/>
                </a:solidFill>
                <a:latin typeface="Calibri"/>
              </a:rPr>
              <a:t>828 AFDB + 129 ColabFold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B72"/>
                </a:solidFill>
                <a:latin typeface="Calibri"/>
              </a:rPr>
              <a:t>AlphaFold structures for all 957; the 129 AFDB gaps folded with ColabFold (AF2). Trimmed to the helicase core.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169664"/>
            <a:ext cx="566928" cy="566928"/>
          </a:xfrm>
          <a:prstGeom prst="ellipse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A33D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11480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42A33"/>
                </a:solidFill>
                <a:latin typeface="Calibri"/>
              </a:rPr>
              <a:t>foldseek 3Di alphabet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B72"/>
                </a:solidFill>
                <a:latin typeface="Calibri"/>
              </a:rPr>
              <a:t>Per-residue structural alphabet → an AA+3Di alignment over the same core columns.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A33D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85232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42A33"/>
                </a:solidFill>
                <a:latin typeface="Calibri"/>
              </a:rPr>
              <a:t>reconcile vs species tree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B72"/>
                </a:solidFill>
                <a:latin typeface="Calibri"/>
              </a:rPr>
              <a:t>Gene tree → GeneRax duplication–loss reconciliation → the duplication branch (the answer).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The fold carries the signal sequence lost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2"/>
                </a:solidFill>
                <a:latin typeface="Calibri"/>
              </a:rPr>
              <a:t>3Di structural characters — not structural distances — are what resolve the node</a:t>
            </a:r>
          </a:p>
        </p:txBody>
      </p:sp>
      <p:pic>
        <p:nvPicPr>
          <p:cNvPr id="5" name="Picture 4" descr="FoldTree_structure_resolves_du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74" y="1783080"/>
            <a:ext cx="969917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72"/>
                </a:solidFill>
                <a:latin typeface="Calibri"/>
              </a:rPr>
              <a:t>3Di has more informative sites than amino acids (194 vs 180) — yet only the AA+3Di ML partition reaches Saccharomycotina; pure distance-based FoldTree (fident/alntmscore/lddt) stays deep, like AA-only.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PIF1/RRM3 arose once — in the Saccharomycotina ancestor</a:t>
            </a:r>
          </a:p>
        </p:txBody>
      </p:sp>
      <p:pic>
        <p:nvPicPr>
          <p:cNvPr id="5" name="Picture 4" descr="tree_dupclad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160020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2011680"/>
            <a:ext cx="4937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42A33"/>
                </a:solidFill>
                <a:latin typeface="Calibri"/>
              </a:rPr>
              <a:t>The duplication clade: 197 genes / 103 species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★  </a:t>
            </a:r>
            <a:r>
              <a:rPr sz="1500" b="0" i="0">
                <a:solidFill>
                  <a:srgbClr val="142A33"/>
                </a:solidFill>
                <a:latin typeface="Calibri"/>
              </a:rPr>
              <a:t>Two mirror-image paralog clades (Pif1 + Rrm3) radiate from a single duplication.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★  </a:t>
            </a:r>
            <a:r>
              <a:rPr sz="1500" b="0" i="0">
                <a:solidFill>
                  <a:srgbClr val="142A33"/>
                </a:solidFill>
                <a:latin typeface="Calibri"/>
              </a:rPr>
              <a:t>Both paralogs span ~all Saccharomycotina families → the event predates the budding-yeast radiation.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★  </a:t>
            </a:r>
            <a:r>
              <a:rPr sz="1500" b="0" i="0">
                <a:solidFill>
                  <a:srgbClr val="142A33"/>
                </a:solidFill>
                <a:latin typeface="Calibri"/>
              </a:rPr>
              <a:t>Independently confirmed by GeneRax (ML) and species-overlap reconciliation.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★  </a:t>
            </a:r>
            <a:r>
              <a:rPr sz="1500" b="0" i="0">
                <a:solidFill>
                  <a:srgbClr val="1A9650"/>
                </a:solidFill>
                <a:latin typeface="Calibri"/>
              </a:rPr>
              <a:t>Two-copy mushrooms are a separate, convergent duplication — not yeast Pif1/Rrm3 orthologs.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Reconciliation pins it to the Saccharomycotina stem</a:t>
            </a:r>
          </a:p>
        </p:txBody>
      </p:sp>
      <p:pic>
        <p:nvPicPr>
          <p:cNvPr id="5" name="Picture 4" descr="Q1_saccharomycotina_paralog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1754"/>
            <a:ext cx="7406640" cy="41746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2011680"/>
            <a:ext cx="3566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★  </a:t>
            </a:r>
            <a:r>
              <a:rPr sz="1400" b="0" i="0">
                <a:solidFill>
                  <a:srgbClr val="142A33"/>
                </a:solidFill>
                <a:latin typeface="Calibri"/>
              </a:rPr>
              <a:t>GeneRax (gold-standard ML duplication–loss) maps the duplication to the Saccharomycotina common ancestor.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★  </a:t>
            </a:r>
            <a:r>
              <a:rPr sz="1400" b="0" i="0">
                <a:solidFill>
                  <a:srgbClr val="142A33"/>
                </a:solidFill>
                <a:latin typeface="Calibri"/>
              </a:rPr>
              <a:t>Both paralogs present in 8 of 9 sampled families → stem of the radiation.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★  </a:t>
            </a:r>
            <a:r>
              <a:rPr sz="1400" b="0" i="1">
                <a:solidFill>
                  <a:srgbClr val="5A6B72"/>
                </a:solidFill>
                <a:latin typeface="Calibri"/>
              </a:rPr>
              <a:t>Earliest branch (Lipomycetales) is single-copy; deeper sampling would refine before-vs-after that first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475488"/>
            <a:ext cx="292608" cy="292608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840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42A33"/>
                </a:solidFill>
                <a:latin typeface="Cambria"/>
              </a:rPr>
              <a:t>The ancestral fungal PIF1 was “Pif1-like”</a:t>
            </a:r>
          </a:p>
        </p:txBody>
      </p:sp>
      <p:pic>
        <p:nvPicPr>
          <p:cNvPr id="5" name="Picture 4" descr="Q2_pif1_vs_rrm3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1645920"/>
            <a:ext cx="89154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72"/>
                </a:solidFill>
                <a:latin typeface="Calibri"/>
              </a:rPr>
              <a:t>A single-copy PIF1 outside the duplication is, by descent, a co-ortholog of both paralogs (0/536 nest inside either). But by sequence it resembles ScPif1 more (442 vs 93 species; every subphylum) — Pif1 kept more of the ancestral state; Rrm3 is the derived paralog.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548640" y="502920"/>
            <a:ext cx="365760" cy="365760"/>
          </a:xfrm>
          <a:prstGeom prst="star5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★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The PIF1/RRM3 duplication maps to the Saccharomycotina ancestor — the stem of the budding-yeast radiation.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★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Structure (3Di) resolves a node amino acids can't — but as ML characters, not distances.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★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GeneRax and species-overlap reconciliation agree; the two-copy mushrooms are an independent, convergent duplication.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★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The ancestral fungal PIF1 was Pif1-like; Rrm3 is the more-derived paralog.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E8A33D"/>
                </a:solidFill>
                <a:latin typeface="Calibri"/>
              </a:rPr>
              <a:t>★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Fully reproducible: github.com/spegray/pif1-foldtree · IQ-TREE 3.1.2, foldseek, GeneRax 2.0.4, ColabFold (AF2).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