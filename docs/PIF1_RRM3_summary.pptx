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58368"/>
            <a:ext cx="201168" cy="2011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60350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PHYLOGENETICS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A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did PIF1 and RRM3 split?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66928" y="2468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Dating a budding-yeast helicase duplication with structural phylogenetics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6126480" cy="640080"/>
          </a:xfrm>
          <a:prstGeom prst="rect">
            <a:avLst/>
          </a:prstGeom>
          <a:solidFill>
            <a:srgbClr val="123F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375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indent="0" marL="0">
              <a:buNone/>
            </a:pPr>
            <a:r>
              <a:rPr lang="en-US" sz="160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Saccharomycotina ancestor, ~330–383 Mya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" y="4434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Spencer Gray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cerevisiae has two PIF1-family DNA helicases: Pif1 and Rrm3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fungi — and the common ancestor — have just one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pair arose by a gene duplication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when, and on which branch of the fungal tree?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Hard: the alignable helicase core is short and fast-evolving, so it saturates at the relevant depth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35040" y="1371600"/>
            <a:ext cx="2468880" cy="640080"/>
          </a:xfrm>
          <a:prstGeom prst="roundRect">
            <a:avLst>
              <a:gd name="adj" fmla="val 11429"/>
            </a:avLst>
          </a:prstGeom>
          <a:solidFill>
            <a:srgbClr val="0F6E5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0" y="13716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ancestral PIF1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269480" y="2011680"/>
            <a:ext cx="0" cy="502920"/>
          </a:xfrm>
          <a:prstGeom prst="line">
            <a:avLst/>
          </a:prstGeom>
          <a:noFill/>
          <a:ln w="19050">
            <a:solidFill>
              <a:srgbClr val="5F6B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59168" y="2395728"/>
            <a:ext cx="420624" cy="420624"/>
          </a:xfrm>
          <a:prstGeom prst="ellipse">
            <a:avLst/>
          </a:prstGeom>
          <a:solidFill>
            <a:srgbClr val="D85A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59168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943600" y="28529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— when?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2816352"/>
            <a:ext cx="-914400" cy="457200"/>
          </a:xfrm>
          <a:prstGeom prst="line">
            <a:avLst/>
          </a:prstGeom>
          <a:noFill/>
          <a:ln w="19050">
            <a:solidFill>
              <a:srgbClr val="5F6B6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269480" y="2816352"/>
            <a:ext cx="914400" cy="457200"/>
          </a:xfrm>
          <a:prstGeom prst="line">
            <a:avLst/>
          </a:prstGeom>
          <a:noFill/>
          <a:ln w="19050">
            <a:solidFill>
              <a:srgbClr val="5F6B6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06440" y="329184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F2F7F5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3291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60920" y="329184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F2F7F5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60920" y="3291840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Rrm3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02920" y="1874520"/>
            <a:ext cx="1947672" cy="1554480"/>
          </a:xfrm>
          <a:prstGeom prst="roundRect">
            <a:avLst>
              <a:gd name="adj" fmla="val 4706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20724" y="1627632"/>
            <a:ext cx="512064" cy="512064"/>
          </a:xfrm>
          <a:prstGeom prst="ellipse">
            <a:avLst/>
          </a:prstGeom>
          <a:solidFill>
            <a:srgbClr val="D85A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20724" y="1627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94360" y="265176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957 PIF1 proteins,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728 fungal species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55164" y="2651760"/>
            <a:ext cx="100584" cy="0"/>
          </a:xfrm>
          <a:prstGeom prst="line">
            <a:avLst/>
          </a:prstGeom>
          <a:noFill/>
          <a:ln w="19050">
            <a:solidFill>
              <a:srgbClr val="5F6B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1874520"/>
            <a:ext cx="1947672" cy="1554480"/>
          </a:xfrm>
          <a:prstGeom prst="roundRect">
            <a:avLst>
              <a:gd name="adj" fmla="val 4706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8124" y="1627632"/>
            <a:ext cx="512064" cy="512064"/>
          </a:xfrm>
          <a:prstGeom prst="ellipse">
            <a:avLst/>
          </a:prstGeom>
          <a:solidFill>
            <a:srgbClr val="D85A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78124" y="1627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60320" y="22860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trees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651760" y="265176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+ 3Di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12564" y="2651760"/>
            <a:ext cx="100584" cy="0"/>
          </a:xfrm>
          <a:prstGeom prst="line">
            <a:avLst/>
          </a:prstGeom>
          <a:noFill/>
          <a:ln w="19050">
            <a:solidFill>
              <a:srgbClr val="5F6B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17720" y="1874520"/>
            <a:ext cx="1947672" cy="1554480"/>
          </a:xfrm>
          <a:prstGeom prst="roundRect">
            <a:avLst>
              <a:gd name="adj" fmla="val 4706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35524" y="1627632"/>
            <a:ext cx="512064" cy="512064"/>
          </a:xfrm>
          <a:prstGeom prst="ellipse">
            <a:avLst/>
          </a:prstGeom>
          <a:solidFill>
            <a:srgbClr val="D85A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35524" y="1627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17720" y="22860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265176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tree vs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tree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69964" y="2651760"/>
            <a:ext cx="100584" cy="0"/>
          </a:xfrm>
          <a:prstGeom prst="line">
            <a:avLst/>
          </a:prstGeom>
          <a:noFill/>
          <a:ln w="19050">
            <a:solidFill>
              <a:srgbClr val="5F6B6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75120" y="1874520"/>
            <a:ext cx="1947672" cy="1554480"/>
          </a:xfrm>
          <a:prstGeom prst="roundRect">
            <a:avLst>
              <a:gd name="adj" fmla="val 4706"/>
            </a:avLst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92924" y="1627632"/>
            <a:ext cx="512064" cy="512064"/>
          </a:xfrm>
          <a:prstGeom prst="ellipse">
            <a:avLst/>
          </a:prstGeom>
          <a:solidFill>
            <a:srgbClr val="D85A3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92924" y="1627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675120" y="2286000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off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66560" y="2651760"/>
            <a:ext cx="1764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duplication's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977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Structures: AlphaFold DB + ColabFold · reconciliation: GeneRax + species-overlap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 can't resolve it — structure can</a:t>
            </a:r>
            <a:endParaRPr lang="en-US" sz="3000" dirty="0"/>
          </a:p>
        </p:txBody>
      </p:sp>
      <p:pic>
        <p:nvPicPr>
          <p:cNvPr id="3" name="Image 0" descr="/tmp/deck/fig3_aa_vs_aa3d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5120640" cy="2414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60720" y="1371600"/>
            <a:ext cx="2971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Amino-acid trees place the split at the base of Fungi — unresolved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3Di structural alphabet pulls it into Saccharomycotina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even marginally favors the wrong answer (AU p = 0.033) — a long-branch-attraction artifact (Saccharomycotina copies evolve ~2× faster)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maps to the Saccharomycotina ancestor</a:t>
            </a:r>
            <a:endParaRPr lang="en-US" sz="3000" dirty="0"/>
          </a:p>
        </p:txBody>
      </p:sp>
      <p:pic>
        <p:nvPicPr>
          <p:cNvPr id="3" name="Image 0" descr="/tmp/deck/fig4_duplication_on_timetr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5120640" cy="2523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1371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85A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~330–383 Mya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733288" y="19385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6B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Devonian–Carboniferous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733288" y="24231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GeneRax reconciliation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the published Y1000+ phylogenomic tree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predates the Saccharomyces whole-genome duplication (~100 Mya)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more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931920" cy="2697480"/>
          </a:xfrm>
          <a:prstGeom prst="rect">
            <a:avLst/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417320"/>
            <a:ext cx="3931920" cy="64008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Mushrooms duplicated PIF1 independently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two-copy Agaricomycetes are a separate, convergent event — not orthologs of the yeast pair. Copy-counting can't tell; the gene tree can.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3931920" cy="2697480"/>
          </a:xfrm>
          <a:prstGeom prst="rect">
            <a:avLst/>
          </a:prstGeom>
          <a:solidFill>
            <a:srgbClr val="F2F7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417320"/>
            <a:ext cx="3931920" cy="640080"/>
          </a:xfrm>
          <a:prstGeom prst="rect">
            <a:avLst/>
          </a:prstGeom>
          <a:solidFill>
            <a:srgbClr val="D85A3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417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RRM3 is the derived paralog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92040" y="224028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Single-copy PIF1s outside budding yeasts lean toward Pif1 by sequence. Pif1 kept more of the ancestral state; Rrm3 diverged further (and faster).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01168" cy="201168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Take-home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7955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PIF1 and RRM3 arose from one duplication in the Saccharomycotina ancestor, ~330–383 Mya — long before the Saccharomyces whole-genome duplication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Amino-acid phylogenetics is confidently misled here; the protein's structure recovers the true relationship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mushroom two-copy state is an independent duplication; Rrm3 is the derived copy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case where structural phylogenetics corrects a sequence artifact — and the first dated placement of this split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E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Caveats &amp; 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node is bootstrap-weak (UFBoot 29) and sequence marginally conflicts (p=0.033) — reconciliation + the biology (RRM3 only in budding yeasts) carry it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Early-diverging budding yeasts thinly sampled → stem vs early-crown not fully pinned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846320" y="16916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GeneRax loss-pattern on a grafted phylogenomic tree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AA+3Di bootstrap robustness; alternative 3Di model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Y1000+ orthogroup novelty check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Dating the PIF1/RRM3 duplication</dc:title>
  <dc:subject>PptxGenJS Presentation</dc:subject>
  <dc:creator>Spencer Gray</dc:creator>
  <cp:lastModifiedBy>Spencer Gray</cp:lastModifiedBy>
  <cp:revision>1</cp:revision>
  <dcterms:created xsi:type="dcterms:W3CDTF">2026-06-18T15:28:47Z</dcterms:created>
  <dcterms:modified xsi:type="dcterms:W3CDTF">2026-06-18T15:28:47Z</dcterms:modified>
</cp:coreProperties>
</file>