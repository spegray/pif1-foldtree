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two unrelated helicase families both unwind G-quadruplexes. PIF1 caps the 5' tetrad with a basic Arg wedge; RecQ caps the 3' tetrad with an aromatic beta-wing. We screened the tree of life with 2,008 AlphaFold3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take-homes. The punchline: PIF1 conserves a chemistry (basic); RecQ conserves a structural position but lets the residue drift, and that drift is paralog-specific, from an ancestral aromatic.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PIF1 keeps a chemistry constant (84% basic). RecQ keeps the structural slot but the residue is paralog-diagnostic — aromatic in RECQL1/WRN, but BLM uses Asn and fungal Sgs1 uses small residues.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evolutionary payoff. The ancestor's beta-wing reconstructs as aromatic (Tyr). Bacteria and RECQL1/WRN kept it; BLM (Asn) and fungal Sgs1 (small) independently lost it. So RecQ's 'variability' is derived erosion, not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 facts for the room. The 74-&gt;34% one is a good teaching moment about why the rigorous structural mapping mattered. End on the 40% — the RECQL4/5-like helicases that lack the domain entirely, which we're modeling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Backup/methods. 2008 standardized AF3 jobs (helicase + G4 + ATP + 2 K+, one seed). Validated against ScPif1-8XAK and RECQL1-9I22: AF3 reproduces G4 folding and the motif-&gt;tetrad contact, but parks the G4 ~10 A off, so we trust contact-level readouts not atomic pose. The 74-&gt;34% correction (sequence vs structural homology) is the key methods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544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crack</a:t>
            </a:r>
            <a:endParaRPr lang="en-US" sz="44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G-quadruplex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tree-of-life structural screen of G4-unwinding helicases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13232" y="4114800"/>
            <a:ext cx="2788920" cy="548640"/>
          </a:xfrm>
          <a:prstGeom prst="roundRect">
            <a:avLst>
              <a:gd name="adj" fmla="val 50000"/>
            </a:avLst>
          </a:prstGeom>
          <a:solidFill>
            <a:srgbClr val="17293D"/>
          </a:solidFill>
          <a:ln w="12700">
            <a:solidFill>
              <a:srgbClr val="2FB0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4114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</a:t>
            </a:r>
            <a:pPr algn="ctr" indent="0" marL="0">
              <a:buNone/>
            </a:pPr>
            <a:r>
              <a:rPr lang="en-US" sz="15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Arg wedge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4114800"/>
            <a:ext cx="3383280" cy="548640"/>
          </a:xfrm>
          <a:prstGeom prst="roundRect">
            <a:avLst>
              <a:gd name="adj" fmla="val 50000"/>
            </a:avLst>
          </a:prstGeom>
          <a:solidFill>
            <a:srgbClr val="17293D"/>
          </a:solidFill>
          <a:ln w="12700">
            <a:solidFill>
              <a:srgbClr val="E86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</a:t>
            </a:r>
            <a:pPr algn="ctr" indent="0" marL="0">
              <a:buNone/>
            </a:pPr>
            <a:r>
              <a:rPr lang="en-US" sz="15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aromatic β-wing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2,008 AlphaFold3 protein–G4 complexes      ·      Spencer Gray      ·      lab meeting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46920" y="14173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2FB08A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46920" y="1417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71432" y="14173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64040" y="2212848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EBA53A"/>
          </a:solidFill>
          <a:ln w="12700">
            <a:solidFill>
              <a:srgbClr val="B47F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64040" y="2761488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EBA53A"/>
          </a:solidFill>
          <a:ln w="12700">
            <a:solidFill>
              <a:srgbClr val="B47F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4040" y="3310128"/>
            <a:ext cx="2148840" cy="438912"/>
          </a:xfrm>
          <a:prstGeom prst="roundRect">
            <a:avLst>
              <a:gd name="adj" fmla="val 12500"/>
            </a:avLst>
          </a:prstGeom>
          <a:solidFill>
            <a:srgbClr val="EBA53A"/>
          </a:solidFill>
          <a:ln w="12700">
            <a:solidFill>
              <a:srgbClr val="B47F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2651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G-tetrads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E86A43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46920" y="4114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0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β-wing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71432" y="4114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3′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7335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opposite chemistry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350008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unrelated families each crack a G4 with one residue — PIF1 a BASIC wedge (Arg), RecQ an AROMATIC β-wing (Tyr).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7335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PIF1: one solution, held constant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350008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is a conserved basic residue (R+K ≈ 84%) tree-of-life-wide. The structure screen confirms the sequence signal.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95935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RecQ: conserved slot, plastic residue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636008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β-wing is paralog-diagnostic — RECQL1 &amp; WRN keep an aromatic, BLM swapped in Asn, fungal Sgs1 uses small residues.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63640" y="3703320"/>
            <a:ext cx="5376672" cy="2194560"/>
          </a:xfrm>
          <a:prstGeom prst="roundRect">
            <a:avLst>
              <a:gd name="adj" fmla="val 375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959352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aromatic β-wing is ancient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4636008"/>
            <a:ext cx="4736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(bacterial) Tyr, lost independently in specific eukaryotic paralogs — a billion-year-old motif, eroded.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families, two kinds of conservation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765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 — the Arg wedge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the 5′ G-tetrad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wedges are BASIC (Arg / Lys)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conserved chemistry, everywhere.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 in Ascomycota, Lys in Basidiomycota — same charge, different letter.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352" y="1417320"/>
            <a:ext cx="5394960" cy="4663440"/>
          </a:xfrm>
          <a:prstGeom prst="roundRect">
            <a:avLst>
              <a:gd name="adj" fmla="val 1765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 — the β-wing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the 3′ G-tetrad — same fold, a paralog-specific residue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65392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RECQL1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354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34107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3410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4032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35440" y="40325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46542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35440" y="4654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65392" y="5276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Sgs1 (fungi)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5276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65392" y="5870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(kept)  vs  lost →  Asn, small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ancestral aromatic β-wing — eroded paralog by paralog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25200F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29260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RecQ β-wing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(Tyr)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46120" y="342900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1417320"/>
            <a:ext cx="0" cy="402336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141732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1106424"/>
            <a:ext cx="6537960" cy="621792"/>
          </a:xfrm>
          <a:prstGeom prst="roundRect">
            <a:avLst>
              <a:gd name="adj" fmla="val 13235"/>
            </a:avLst>
          </a:prstGeom>
          <a:solidFill>
            <a:srgbClr val="22323F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110642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RecQ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0" y="110642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aromatic   </a:t>
            </a:r>
            <a:pPr algn="r" indent="0" marL="0">
              <a:buNone/>
            </a:pPr>
            <a:r>
              <a:rPr lang="en-US" sz="13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42316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2112264"/>
            <a:ext cx="6537960" cy="621792"/>
          </a:xfrm>
          <a:prstGeom prst="roundRect">
            <a:avLst>
              <a:gd name="adj" fmla="val 13235"/>
            </a:avLst>
          </a:prstGeom>
          <a:solidFill>
            <a:srgbClr val="22323F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0" y="211226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RECQL1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78240" y="211226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aromatic   </a:t>
            </a:r>
            <a:pPr algn="r" indent="0" marL="0">
              <a:buNone/>
            </a:pPr>
            <a:r>
              <a:rPr lang="en-US" sz="13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342900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3118104"/>
            <a:ext cx="6537960" cy="621792"/>
          </a:xfrm>
          <a:prstGeom prst="roundRect">
            <a:avLst>
              <a:gd name="adj" fmla="val 13235"/>
            </a:avLst>
          </a:prstGeom>
          <a:solidFill>
            <a:srgbClr val="22323F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311810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WRN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311810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aromatic   </a:t>
            </a:r>
            <a:pPr algn="r" indent="0" marL="0">
              <a:buNone/>
            </a:pPr>
            <a:r>
              <a:rPr lang="en-US" sz="13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kept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443484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4123944"/>
            <a:ext cx="6537960" cy="621792"/>
          </a:xfrm>
          <a:prstGeom prst="roundRect">
            <a:avLst>
              <a:gd name="adj" fmla="val 13235"/>
            </a:avLst>
          </a:prstGeom>
          <a:solidFill>
            <a:srgbClr val="1A2735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41239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412394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aromatic   </a:t>
            </a:r>
            <a:pPr algn="r" indent="0" marL="0">
              <a:buNone/>
            </a:pPr>
            <a:r>
              <a:rPr lang="en-US" sz="1300" b="1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lost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60520" y="5440680"/>
            <a:ext cx="914400" cy="0"/>
          </a:xfrm>
          <a:prstGeom prst="line">
            <a:avLst/>
          </a:prstGeom>
          <a:noFill/>
          <a:ln w="19050">
            <a:solidFill>
              <a:srgbClr val="5C6E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5129784"/>
            <a:ext cx="6537960" cy="621792"/>
          </a:xfrm>
          <a:prstGeom prst="roundRect">
            <a:avLst>
              <a:gd name="adj" fmla="val 13235"/>
            </a:avLst>
          </a:prstGeom>
          <a:solidFill>
            <a:srgbClr val="1A2735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512978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Sgs1 · fungi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78240" y="512978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aromatic   </a:t>
            </a:r>
            <a:pPr algn="r" indent="0" marL="0">
              <a:buNone/>
            </a:pPr>
            <a:r>
              <a:rPr lang="en-US" sz="1300" b="1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lost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Ancestral-state reconstruction — root reconstructs aromatic, ML P = 0.96.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and RECQL1/WRN kept the ancestral Tyr; BLM and fungal Sgs1 independently replaced it.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facts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95528" y="17647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5528" y="258775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helicase–G4 complexes modeled on AlphaFold3 — a tree-of-life screen (957 PIF1 + 1,051 RecQ).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07992" y="1508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00600" y="17647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6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00600" y="258775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off AF3 parks the G4. Enough to say IF the motif touches — validated against two crystal structures.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513064" y="150876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05672" y="176479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→ 34%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805672" y="258775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alignment overcounted the RecQ aromatic; rigorous structure nearly halved it. Signal hidden by paralog averaging.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5528" y="418795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= Asn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95528" y="50109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Bloom-syndrome helicase swapped the aromatic for a conserved Asn (67%) — as conserved as any aromatic.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07992" y="393192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418795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00600" y="50109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 β-wings in fungi (Sgs1) — the lineage that threw the ancestral Tyr out almost entirely.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13064" y="3931920"/>
            <a:ext cx="3611880" cy="2240280"/>
          </a:xfrm>
          <a:prstGeom prst="roundRect">
            <a:avLst>
              <a:gd name="adj" fmla="val 3673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05672" y="4187952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805672" y="5010912"/>
            <a:ext cx="3026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'RecQ helicases' (RECQL4/5-like) lack the β-wing domain entirely — that batch is modeling next.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— validated against experiment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2,008</a:t>
            </a:r>
            <a:pPr indent="0" marL="0">
              <a:buNone/>
            </a:pPr>
            <a:r>
              <a:rPr lang="en-US" sz="17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AlphaFold3 protein–G4 complexes      ·      957 PIF1 + 1,051 RecQ      ·      tree of life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0116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/ InterPro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2011680"/>
            <a:ext cx="329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38144" y="201168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0116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helicase + G4 + ATP + 2 K+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0176" y="2011680"/>
            <a:ext cx="329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20116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crystal structures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51392" y="2011680"/>
            <a:ext cx="329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0576" y="2011680"/>
            <a:ext cx="2542032" cy="914400"/>
          </a:xfrm>
          <a:prstGeom prst="roundRect">
            <a:avLst>
              <a:gd name="adj" fmla="val 9000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0304" y="2011680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confidence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324612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17293D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4198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vs 2 crystal structures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" y="385876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 vs 8XAK — wedge R324 placed 2.2 Å; contact 3.5 Å (exp 3.4 Å)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RecQ vs 9I22 — β-wing Y564 → tetrad 3.8 Å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6D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 folds the G4 (K+ channel); the motif engages its tetrad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76672" cy="1691640"/>
          </a:xfrm>
          <a:prstGeom prst="roundRect">
            <a:avLst>
              <a:gd name="adj" fmla="val 4865"/>
            </a:avLst>
          </a:prstGeom>
          <a:solidFill>
            <a:srgbClr val="2A2410"/>
          </a:solidFill>
          <a:ln/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4198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BA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caveat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85876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AF3 parks the G4 ~10 Å off its crystal pose — so we read WHETHER the motif contacts the G4 (+ confidence), not atomic geometry.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4A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alignment overcounted the RecQ aromatic (74%); structural homology corrected it → 34%.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the substrate (a folded parallel G4) · sequence + AF3 structure + ancestral-state reconstruction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ways to crack a G-quadruplex</dc:title>
  <dc:subject>PptxGenJS Presentation</dc:subject>
  <dc:creator>Spencer Gray</dc:creator>
  <cp:lastModifiedBy>Spencer Gray</cp:lastModifiedBy>
  <cp:revision>1</cp:revision>
  <dcterms:created xsi:type="dcterms:W3CDTF">2026-07-09T12:54:15Z</dcterms:created>
  <dcterms:modified xsi:type="dcterms:W3CDTF">2026-07-09T12:54:15Z</dcterms:modified>
</cp:coreProperties>
</file>